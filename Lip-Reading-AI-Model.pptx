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23" r:id="rId1"/>
  </p:sldMasterIdLst>
  <p:notesMasterIdLst>
    <p:notesMasterId r:id="rId14"/>
  </p:notesMasterIdLst>
  <p:sldIdLst>
    <p:sldId id="256" r:id="rId2"/>
    <p:sldId id="266" r:id="rId3"/>
    <p:sldId id="257" r:id="rId4"/>
    <p:sldId id="268" r:id="rId5"/>
    <p:sldId id="269" r:id="rId6"/>
    <p:sldId id="270" r:id="rId7"/>
    <p:sldId id="261" r:id="rId8"/>
    <p:sldId id="262" r:id="rId9"/>
    <p:sldId id="265" r:id="rId10"/>
    <p:sldId id="258" r:id="rId11"/>
    <p:sldId id="264" r:id="rId12"/>
    <p:sldId id="267" r:id="rId13"/>
  </p:sldIdLst>
  <p:sldSz cx="14630400" cy="8229600"/>
  <p:notesSz cx="8229600" cy="14630400"/>
  <p:embeddedFontLst>
    <p:embeddedFont>
      <p:font typeface="ADLaM Display" panose="02010000000000000000" pitchFamily="2" charset="0"/>
      <p:regular r:id="rId15"/>
    </p:embeddedFont>
    <p:embeddedFont>
      <p:font typeface="Merriweather Bold" panose="020B0604020202020204" charset="0"/>
      <p:bold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Sahu" userId="1540f4d6899649df" providerId="LiveId" clId="{8831F524-DA0B-453C-B942-E345EC73EA0B}"/>
    <pc:docChg chg="modSld">
      <pc:chgData name="Rohit Sahu" userId="1540f4d6899649df" providerId="LiveId" clId="{8831F524-DA0B-453C-B942-E345EC73EA0B}" dt="2025-02-10T05:57:25.127" v="1" actId="20577"/>
      <pc:docMkLst>
        <pc:docMk/>
      </pc:docMkLst>
      <pc:sldChg chg="modSp mod">
        <pc:chgData name="Rohit Sahu" userId="1540f4d6899649df" providerId="LiveId" clId="{8831F524-DA0B-453C-B942-E345EC73EA0B}" dt="2025-02-10T05:57:25.127" v="1" actId="20577"/>
        <pc:sldMkLst>
          <pc:docMk/>
          <pc:sldMk cId="0" sldId="265"/>
        </pc:sldMkLst>
        <pc:spChg chg="mod">
          <ac:chgData name="Rohit Sahu" userId="1540f4d6899649df" providerId="LiveId" clId="{8831F524-DA0B-453C-B942-E345EC73EA0B}" dt="2025-02-10T05:57:25.127" v="1" actId="20577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4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F928-0F66-90F3-3B65-0A3EF92A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0DC34-5E85-A8AA-A814-239341603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0927B-7A39-ECD5-D0E6-11D02950C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86E67-42BB-629E-2193-3E890074C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9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6C8A-3C30-8289-1579-0EC3566B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1AF02-B1D6-0171-9C83-0E9B99F98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49B1C-D94F-17FA-43D6-8BC169299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ADAAF-FF0B-5822-3361-D420295B2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32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0C34-A88B-1620-D5C9-07C16554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ECF69-A82D-9A4B-AC5F-560BBAB49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969B9-173C-37D9-8F33-003C60862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F740B-EB38-F8FE-8D3F-512101409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3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895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257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532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109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390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12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131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653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2/10/2025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987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085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20720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3212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67719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854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328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4161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785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5799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135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316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512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239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0609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41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2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  <p:sldLayoutId id="2147483941" r:id="rId18"/>
    <p:sldLayoutId id="2147483942" r:id="rId19"/>
    <p:sldLayoutId id="2147483944" r:id="rId20"/>
    <p:sldLayoutId id="2147483945" r:id="rId21"/>
    <p:sldLayoutId id="2147483946" r:id="rId22"/>
    <p:sldLayoutId id="2147483947" r:id="rId23"/>
    <p:sldLayoutId id="2147483948" r:id="rId24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61003" y="1747036"/>
            <a:ext cx="10036078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u="sng">
                <a:solidFill>
                  <a:srgbClr val="403C4E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LIP-NET: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6000" b="1" u="sng">
                <a:solidFill>
                  <a:srgbClr val="403C4E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4000" u="sng">
                <a:solidFill>
                  <a:srgbClr val="403C4E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LIP READING DEEP LEARNING MODEL</a:t>
            </a:r>
            <a:endParaRPr lang="en-US" sz="4000" u="sng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6143" y="3406571"/>
            <a:ext cx="5707775" cy="2006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b="1"/>
              <a:t>                 </a:t>
            </a:r>
            <a:r>
              <a:rPr lang="en-IN" sz="2800" b="1">
                <a:solidFill>
                  <a:schemeClr val="accent2">
                    <a:lumMod val="50000"/>
                  </a:schemeClr>
                </a:solidFill>
              </a:rPr>
              <a:t>GROUP MEMBERS</a:t>
            </a:r>
          </a:p>
          <a:p>
            <a:r>
              <a:rPr lang="en-IN" sz="2400"/>
              <a:t>AKSHITA                                CSE/097/23</a:t>
            </a:r>
          </a:p>
          <a:p>
            <a:r>
              <a:rPr lang="en-IN" sz="2400"/>
              <a:t>AMAN KUMAR                        CSE/098/23</a:t>
            </a:r>
          </a:p>
          <a:p>
            <a:r>
              <a:rPr lang="en-IN" sz="2400"/>
              <a:t>AMAN KUMAR SINGH              CSE/099/23</a:t>
            </a:r>
          </a:p>
          <a:p>
            <a:r>
              <a:rPr lang="en-IN" sz="2400"/>
              <a:t>ANAS ANWAR                         CSE/100/23 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2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D44CC7-98FC-DAF2-C373-FD0BA4D87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71" y="325692"/>
            <a:ext cx="2458441" cy="2458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076E4E-D47E-8761-E6A3-A26553BF6900}"/>
              </a:ext>
            </a:extLst>
          </p:cNvPr>
          <p:cNvSpPr txBox="1"/>
          <p:nvPr/>
        </p:nvSpPr>
        <p:spPr>
          <a:xfrm>
            <a:off x="481263" y="6467414"/>
            <a:ext cx="56066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/>
              <a:t>NAME OF GUIDE: </a:t>
            </a:r>
            <a:r>
              <a:rPr lang="en-IN" sz="2400"/>
              <a:t>PROF. KUMARI SONAM</a:t>
            </a:r>
          </a:p>
          <a:p>
            <a:r>
              <a:rPr lang="en-IN" sz="2400" b="1"/>
              <a:t>Mini-project Group: </a:t>
            </a:r>
            <a:r>
              <a:rPr lang="en-IN" sz="2400"/>
              <a:t>J</a:t>
            </a:r>
          </a:p>
          <a:p>
            <a:r>
              <a:rPr lang="en-IN" sz="2400" b="1"/>
              <a:t>Semester</a:t>
            </a:r>
            <a:r>
              <a:rPr lang="en-IN" sz="2400"/>
              <a:t>: 3</a:t>
            </a:r>
            <a:r>
              <a:rPr lang="en-IN" sz="2400" baseline="30000"/>
              <a:t>rd</a:t>
            </a:r>
            <a:r>
              <a:rPr lang="en-IN" sz="2400"/>
              <a:t>, CSE-I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55452-5672-311F-434A-8E492DD35F7B}"/>
              </a:ext>
            </a:extLst>
          </p:cNvPr>
          <p:cNvSpPr txBox="1"/>
          <p:nvPr/>
        </p:nvSpPr>
        <p:spPr>
          <a:xfrm>
            <a:off x="2452778" y="764236"/>
            <a:ext cx="106277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R.V.S. COLLEGE OF ENGINEERING AND TECHNOLOGY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2F2040-0338-8195-59B9-6B441E9EC292}"/>
              </a:ext>
            </a:extLst>
          </p:cNvPr>
          <p:cNvSpPr/>
          <p:nvPr/>
        </p:nvSpPr>
        <p:spPr>
          <a:xfrm>
            <a:off x="1042736" y="245525"/>
            <a:ext cx="719504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Table Of 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F780B-4C08-F35D-A17B-38A75B68D0DA}"/>
              </a:ext>
            </a:extLst>
          </p:cNvPr>
          <p:cNvSpPr txBox="1"/>
          <p:nvPr/>
        </p:nvSpPr>
        <p:spPr>
          <a:xfrm>
            <a:off x="1042736" y="1682097"/>
            <a:ext cx="7969618" cy="507831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742950" indent="-742950">
              <a:buAutoNum type="arabicPeriod"/>
            </a:pPr>
            <a:r>
              <a:rPr lang="en-IN" sz="3600"/>
              <a:t>Introduction</a:t>
            </a:r>
          </a:p>
          <a:p>
            <a:pPr marL="742950" indent="-742950">
              <a:buAutoNum type="arabicPeriod"/>
            </a:pPr>
            <a:r>
              <a:rPr lang="en-IN" sz="3600"/>
              <a:t>Objectives</a:t>
            </a:r>
          </a:p>
          <a:p>
            <a:pPr marL="742950" indent="-742950">
              <a:buAutoNum type="arabicPeriod"/>
            </a:pPr>
            <a:r>
              <a:rPr lang="en-IN" sz="3600"/>
              <a:t>Methodology</a:t>
            </a:r>
          </a:p>
          <a:p>
            <a:pPr marL="742950" indent="-742950">
              <a:buAutoNum type="arabicPeriod"/>
            </a:pPr>
            <a:r>
              <a:rPr lang="en-IN" sz="3600"/>
              <a:t>Block diagram</a:t>
            </a:r>
          </a:p>
          <a:p>
            <a:pPr marL="742950" indent="-742950">
              <a:buFontTx/>
              <a:buAutoNum type="arabicPeriod"/>
            </a:pPr>
            <a:r>
              <a:rPr lang="en-IN" sz="3600"/>
              <a:t>Data Collection and Preprocessing</a:t>
            </a:r>
          </a:p>
          <a:p>
            <a:pPr marL="742950" indent="-742950">
              <a:buAutoNum type="arabicPeriod"/>
            </a:pPr>
            <a:r>
              <a:rPr lang="en-IN" sz="3600"/>
              <a:t>Model Architecture and Training</a:t>
            </a:r>
          </a:p>
          <a:p>
            <a:pPr marL="742950" indent="-742950">
              <a:buAutoNum type="arabicPeriod"/>
            </a:pPr>
            <a:r>
              <a:rPr lang="en-IN" sz="3600"/>
              <a:t>Conclusion</a:t>
            </a:r>
          </a:p>
          <a:p>
            <a:pPr marL="742950" indent="-742950">
              <a:buFontTx/>
              <a:buAutoNum type="arabicPeriod"/>
            </a:pPr>
            <a:r>
              <a:rPr lang="en-IN" sz="3600"/>
              <a:t>Limitations</a:t>
            </a:r>
          </a:p>
          <a:p>
            <a:pPr marL="742950" indent="-742950">
              <a:buAutoNum type="arabicPeriod"/>
            </a:pPr>
            <a:r>
              <a:rPr lang="en-IN" sz="360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122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80"/>
    </mc:Choice>
    <mc:Fallback xmlns="">
      <p:transition spd="slow" advTm="1138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696" y="7122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Introduction</a:t>
            </a:r>
            <a:endParaRPr lang="en-US" sz="4450"/>
          </a:p>
        </p:txBody>
      </p:sp>
      <p:sp>
        <p:nvSpPr>
          <p:cNvPr id="4" name="Text 2"/>
          <p:cNvSpPr/>
          <p:nvPr/>
        </p:nvSpPr>
        <p:spPr>
          <a:xfrm>
            <a:off x="445512" y="1492374"/>
            <a:ext cx="10778301" cy="646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novel deep learning architecture is proposed for lip reading, combining 3D CNNs and RNNs 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captures spatial-temporal features from lip video sequences and models temporal dependencies.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model outperforms state-of-the-art methods on diverse datasets, demonstrating superior performance.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model is robust to variations in speaking rates, accents, and environmental conditions.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research has implications for assistive technologies, human-computer interaction, and enhancing communication accessibility.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study contributes to the broader goal of enhancing communication accessibility for individuals with hearing impairments.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7599521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599521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6"/>
    </mc:Choice>
    <mc:Fallback xmlns="">
      <p:transition spd="slow" advTm="625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91ED-02C6-3AEF-BAAC-B2CFFBBD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19A18C-9155-906D-B36D-BCE7D04AEE89}"/>
              </a:ext>
            </a:extLst>
          </p:cNvPr>
          <p:cNvSpPr/>
          <p:nvPr/>
        </p:nvSpPr>
        <p:spPr>
          <a:xfrm>
            <a:off x="445512" y="7122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Objectives</a:t>
            </a:r>
            <a:endParaRPr lang="en-US" sz="44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797CF5-D55D-D788-2E37-C5BF78D5168B}"/>
              </a:ext>
            </a:extLst>
          </p:cNvPr>
          <p:cNvSpPr/>
          <p:nvPr/>
        </p:nvSpPr>
        <p:spPr>
          <a:xfrm>
            <a:off x="445512" y="1837268"/>
            <a:ext cx="10778301" cy="639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deep learning-based lip-reading system for interpreting spoken language from lip movements.</a:t>
            </a:r>
          </a:p>
          <a:p>
            <a:pPr marL="457200" indent="-4572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 communication accessibility for individuals with hearing impairments and in noisy environments.</a:t>
            </a:r>
          </a:p>
          <a:p>
            <a:pPr marL="457200" indent="-4572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Achieve accurate translation of lip movements into text using neural networks.  </a:t>
            </a:r>
          </a:p>
          <a:p>
            <a:pPr marL="457200" indent="-4572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on diverse datasets to ensure accuracy across languages and dialects.  </a:t>
            </a:r>
          </a:p>
          <a:p>
            <a:pPr marL="457200" indent="-4572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future real-time processing capabilities to further enhance accessibility.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E1FCB1-09C1-6277-3D85-B064FA1CC4F4}"/>
              </a:ext>
            </a:extLst>
          </p:cNvPr>
          <p:cNvSpPr/>
          <p:nvPr/>
        </p:nvSpPr>
        <p:spPr>
          <a:xfrm>
            <a:off x="7599521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55406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6"/>
    </mc:Choice>
    <mc:Fallback xmlns="">
      <p:transition spd="slow" advTm="625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CA9E-E98E-4382-6300-083FDDC4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71975F-375D-9DF2-96C0-744AADB043E2}"/>
              </a:ext>
            </a:extLst>
          </p:cNvPr>
          <p:cNvSpPr/>
          <p:nvPr/>
        </p:nvSpPr>
        <p:spPr>
          <a:xfrm>
            <a:off x="445512" y="7122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403C4E"/>
                </a:solidFill>
                <a:latin typeface="Merriweather Bold" pitchFamily="34" charset="0"/>
              </a:rPr>
              <a:t>Methodology:</a:t>
            </a:r>
            <a:endParaRPr lang="en-US" sz="44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5F9CB7-5536-09E4-47D3-5E26157837F0}"/>
              </a:ext>
            </a:extLst>
          </p:cNvPr>
          <p:cNvSpPr/>
          <p:nvPr/>
        </p:nvSpPr>
        <p:spPr>
          <a:xfrm>
            <a:off x="445512" y="1837268"/>
            <a:ext cx="10778301" cy="639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Dependencies: OpenCV, TensorFlow, </a:t>
            </a:r>
            <a:r>
              <a:rPr lang="en-US" sz="200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imageio</a:t>
            </a: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matplotlib, </a:t>
            </a:r>
            <a:r>
              <a:rPr lang="en-US" sz="2000" err="1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gdown</a:t>
            </a: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video processing, data visualization, and training. </a:t>
            </a:r>
          </a:p>
          <a:p>
            <a:pPr marL="457200" indent="-4572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Handling: Developed functions for video data loading, preprocessing, and aligning text labels.  </a:t>
            </a:r>
          </a:p>
          <a:p>
            <a:pPr marL="457200" indent="-4572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Design: Used Conv3D layers for spatial-temporal features, LSTM layers for and temporal modeling for efficient training.  </a:t>
            </a:r>
          </a:p>
          <a:p>
            <a:pPr marL="457200" indent="-457200">
              <a:lnSpc>
                <a:spcPts val="2850"/>
              </a:lnSpc>
              <a:buAutoNum type="arabicPeriod"/>
            </a:pPr>
            <a:endParaRPr lang="en-US" sz="200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457200" indent="-457200">
              <a:lnSpc>
                <a:spcPts val="2850"/>
              </a:lnSpc>
              <a:buAutoNum type="arabicPeriod"/>
            </a:pPr>
            <a:r>
              <a:rPr lang="en-US" sz="20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Predictions: Used trained model to predict text from new video data, showcasing lip movement interpretation.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B8B080-9EA6-C283-46D2-B47D336546A3}"/>
              </a:ext>
            </a:extLst>
          </p:cNvPr>
          <p:cNvSpPr/>
          <p:nvPr/>
        </p:nvSpPr>
        <p:spPr>
          <a:xfrm>
            <a:off x="7599521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00AE25-2164-6C30-CA88-B0ACBB937D44}"/>
              </a:ext>
            </a:extLst>
          </p:cNvPr>
          <p:cNvSpPr/>
          <p:nvPr/>
        </p:nvSpPr>
        <p:spPr>
          <a:xfrm>
            <a:off x="7599521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232180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6"/>
    </mc:Choice>
    <mc:Fallback xmlns="">
      <p:transition spd="slow" advTm="625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FCF7-9035-86EC-F0FD-331A1BD7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BA9872-610A-4182-0A08-73261C52AF12}"/>
              </a:ext>
            </a:extLst>
          </p:cNvPr>
          <p:cNvSpPr/>
          <p:nvPr/>
        </p:nvSpPr>
        <p:spPr>
          <a:xfrm>
            <a:off x="583535" y="64327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403C4E"/>
                </a:solidFill>
                <a:latin typeface="Merriweather Bold" pitchFamily="34" charset="0"/>
              </a:rPr>
              <a:t>Block Diagram:</a:t>
            </a:r>
            <a:endParaRPr lang="en-US" sz="44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F07AF0-176E-F203-B668-7E743892E5BC}"/>
              </a:ext>
            </a:extLst>
          </p:cNvPr>
          <p:cNvSpPr/>
          <p:nvPr/>
        </p:nvSpPr>
        <p:spPr>
          <a:xfrm>
            <a:off x="7599521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31E064-DE11-32BB-9D08-4A9FD2EC46BA}"/>
              </a:ext>
            </a:extLst>
          </p:cNvPr>
          <p:cNvSpPr/>
          <p:nvPr/>
        </p:nvSpPr>
        <p:spPr>
          <a:xfrm>
            <a:off x="7599521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E265DB-E343-1A72-AB1A-298E3F95855B}"/>
              </a:ext>
            </a:extLst>
          </p:cNvPr>
          <p:cNvSpPr/>
          <p:nvPr/>
        </p:nvSpPr>
        <p:spPr>
          <a:xfrm>
            <a:off x="982133" y="1981199"/>
            <a:ext cx="2116667" cy="8974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63E90D-4825-DAB3-6484-9B3178E5BA90}"/>
              </a:ext>
            </a:extLst>
          </p:cNvPr>
          <p:cNvSpPr/>
          <p:nvPr/>
        </p:nvSpPr>
        <p:spPr>
          <a:xfrm>
            <a:off x="1032934" y="6316133"/>
            <a:ext cx="211666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8B1703-E942-C17F-AB11-4CDCF48C9C8F}"/>
              </a:ext>
            </a:extLst>
          </p:cNvPr>
          <p:cNvSpPr/>
          <p:nvPr/>
        </p:nvSpPr>
        <p:spPr>
          <a:xfrm>
            <a:off x="4910666" y="6417733"/>
            <a:ext cx="2116666" cy="8974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F85D77-86F8-6F6D-BA45-68EE5DF24CCC}"/>
              </a:ext>
            </a:extLst>
          </p:cNvPr>
          <p:cNvSpPr/>
          <p:nvPr/>
        </p:nvSpPr>
        <p:spPr>
          <a:xfrm>
            <a:off x="982133" y="3420534"/>
            <a:ext cx="2116666" cy="948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4F20C0-9E65-664F-F4CF-425142CD6D71}"/>
              </a:ext>
            </a:extLst>
          </p:cNvPr>
          <p:cNvSpPr/>
          <p:nvPr/>
        </p:nvSpPr>
        <p:spPr>
          <a:xfrm>
            <a:off x="982132" y="4859866"/>
            <a:ext cx="2116666" cy="8805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A86118-1A61-EC52-0C78-CD6B61581143}"/>
              </a:ext>
            </a:extLst>
          </p:cNvPr>
          <p:cNvSpPr/>
          <p:nvPr/>
        </p:nvSpPr>
        <p:spPr>
          <a:xfrm>
            <a:off x="4859866" y="1981200"/>
            <a:ext cx="2116666" cy="982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7A214B-2CA9-4E89-F354-815384C03577}"/>
              </a:ext>
            </a:extLst>
          </p:cNvPr>
          <p:cNvSpPr/>
          <p:nvPr/>
        </p:nvSpPr>
        <p:spPr>
          <a:xfrm>
            <a:off x="4859866" y="3403600"/>
            <a:ext cx="2116666" cy="9990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ADF04D-38F6-566C-1600-DCBCAAD7208D}"/>
              </a:ext>
            </a:extLst>
          </p:cNvPr>
          <p:cNvSpPr/>
          <p:nvPr/>
        </p:nvSpPr>
        <p:spPr>
          <a:xfrm>
            <a:off x="8636000" y="1879599"/>
            <a:ext cx="2116666" cy="982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57A73A1-4F2C-8160-0B61-ADC7BF484B76}"/>
              </a:ext>
            </a:extLst>
          </p:cNvPr>
          <p:cNvSpPr/>
          <p:nvPr/>
        </p:nvSpPr>
        <p:spPr>
          <a:xfrm>
            <a:off x="8635999" y="3420532"/>
            <a:ext cx="2116666" cy="9821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46492E-0A94-F35F-B981-CA5FD7A51D18}"/>
              </a:ext>
            </a:extLst>
          </p:cNvPr>
          <p:cNvSpPr/>
          <p:nvPr/>
        </p:nvSpPr>
        <p:spPr>
          <a:xfrm>
            <a:off x="8686800" y="6570132"/>
            <a:ext cx="211666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16EEFD-3B32-CD35-2CA6-5AA629B8B7D7}"/>
              </a:ext>
            </a:extLst>
          </p:cNvPr>
          <p:cNvSpPr/>
          <p:nvPr/>
        </p:nvSpPr>
        <p:spPr>
          <a:xfrm>
            <a:off x="8669867" y="4995334"/>
            <a:ext cx="2150533" cy="9821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02139FE-E1E7-2D87-C0C9-FA4EBD34C49C}"/>
              </a:ext>
            </a:extLst>
          </p:cNvPr>
          <p:cNvSpPr/>
          <p:nvPr/>
        </p:nvSpPr>
        <p:spPr>
          <a:xfrm rot="5400000">
            <a:off x="5757333" y="3081867"/>
            <a:ext cx="402674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BBECF9C-C0F2-77F9-B748-B198E265BC56}"/>
              </a:ext>
            </a:extLst>
          </p:cNvPr>
          <p:cNvSpPr/>
          <p:nvPr/>
        </p:nvSpPr>
        <p:spPr>
          <a:xfrm rot="10800000">
            <a:off x="3149600" y="2370666"/>
            <a:ext cx="1672674" cy="1798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858283A-8798-BE32-D5B2-AF28094B3CAA}"/>
              </a:ext>
            </a:extLst>
          </p:cNvPr>
          <p:cNvSpPr/>
          <p:nvPr/>
        </p:nvSpPr>
        <p:spPr>
          <a:xfrm>
            <a:off x="3183466" y="6688665"/>
            <a:ext cx="1672674" cy="1798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82925AD-7DBB-DB97-6727-E9BBA3191921}"/>
              </a:ext>
            </a:extLst>
          </p:cNvPr>
          <p:cNvSpPr/>
          <p:nvPr/>
        </p:nvSpPr>
        <p:spPr>
          <a:xfrm>
            <a:off x="7112000" y="3911598"/>
            <a:ext cx="1503340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73F9E5AF-3E85-7491-790C-61E211251B36}"/>
              </a:ext>
            </a:extLst>
          </p:cNvPr>
          <p:cNvSpPr/>
          <p:nvPr/>
        </p:nvSpPr>
        <p:spPr>
          <a:xfrm rot="5400000">
            <a:off x="9482666" y="6163733"/>
            <a:ext cx="402674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5A9534EC-D406-8223-FDCA-6EA1BE178EF4}"/>
              </a:ext>
            </a:extLst>
          </p:cNvPr>
          <p:cNvSpPr/>
          <p:nvPr/>
        </p:nvSpPr>
        <p:spPr>
          <a:xfrm rot="5400000">
            <a:off x="1896532" y="3081867"/>
            <a:ext cx="402674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8B8D8D2-530E-A39F-C543-04F07D1281AF}"/>
              </a:ext>
            </a:extLst>
          </p:cNvPr>
          <p:cNvSpPr/>
          <p:nvPr/>
        </p:nvSpPr>
        <p:spPr>
          <a:xfrm rot="5400000">
            <a:off x="9465732" y="3081867"/>
            <a:ext cx="402674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F20BFC3-8AAA-7731-94FB-51F2362A12F3}"/>
              </a:ext>
            </a:extLst>
          </p:cNvPr>
          <p:cNvSpPr/>
          <p:nvPr/>
        </p:nvSpPr>
        <p:spPr>
          <a:xfrm rot="5400000">
            <a:off x="1930399" y="4521200"/>
            <a:ext cx="402674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67C56E5-106D-CCBF-575B-2E071CE39215}"/>
              </a:ext>
            </a:extLst>
          </p:cNvPr>
          <p:cNvSpPr/>
          <p:nvPr/>
        </p:nvSpPr>
        <p:spPr>
          <a:xfrm rot="5400000">
            <a:off x="1930399" y="5960533"/>
            <a:ext cx="402674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41B72A1-A7C2-0C5F-8CF6-57A5ADA1D06A}"/>
              </a:ext>
            </a:extLst>
          </p:cNvPr>
          <p:cNvSpPr/>
          <p:nvPr/>
        </p:nvSpPr>
        <p:spPr>
          <a:xfrm rot="5400000">
            <a:off x="9465732" y="4656667"/>
            <a:ext cx="402674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64360CF9-AC64-582E-CAFD-0A46DC1A203A}"/>
              </a:ext>
            </a:extLst>
          </p:cNvPr>
          <p:cNvSpPr/>
          <p:nvPr/>
        </p:nvSpPr>
        <p:spPr>
          <a:xfrm>
            <a:off x="7111999" y="6790264"/>
            <a:ext cx="1503341" cy="162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4F70C21-125A-52F9-3AEE-5991ECE9E4A5}"/>
              </a:ext>
            </a:extLst>
          </p:cNvPr>
          <p:cNvCxnSpPr/>
          <p:nvPr/>
        </p:nvCxnSpPr>
        <p:spPr>
          <a:xfrm flipH="1">
            <a:off x="7128933" y="2438399"/>
            <a:ext cx="1388534" cy="425026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1FBD968-6941-1134-44A7-7577417DE22B}"/>
              </a:ext>
            </a:extLst>
          </p:cNvPr>
          <p:cNvSpPr txBox="1"/>
          <p:nvPr/>
        </p:nvSpPr>
        <p:spPr>
          <a:xfrm>
            <a:off x="1032933" y="2218267"/>
            <a:ext cx="27432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Shot Detection</a:t>
            </a:r>
            <a:r>
              <a:rPr lang="en-US"/>
              <a:t> </a:t>
            </a:r>
          </a:p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99E6EB-EA08-0F02-5DC8-38AB564460F5}"/>
              </a:ext>
            </a:extLst>
          </p:cNvPr>
          <p:cNvSpPr txBox="1"/>
          <p:nvPr/>
        </p:nvSpPr>
        <p:spPr>
          <a:xfrm>
            <a:off x="5418666" y="2235199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Video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0432B6-7768-B46B-9734-186D551E679B}"/>
              </a:ext>
            </a:extLst>
          </p:cNvPr>
          <p:cNvSpPr txBox="1"/>
          <p:nvPr/>
        </p:nvSpPr>
        <p:spPr>
          <a:xfrm>
            <a:off x="9177866" y="2133600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Audio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F13600-98D1-B09A-D34D-5057620104F8}"/>
              </a:ext>
            </a:extLst>
          </p:cNvPr>
          <p:cNvSpPr txBox="1"/>
          <p:nvPr/>
        </p:nvSpPr>
        <p:spPr>
          <a:xfrm>
            <a:off x="1115044" y="3673894"/>
            <a:ext cx="21220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Face Detection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4EFCEB-6E16-5D02-8A3E-EE23644E3FF1}"/>
              </a:ext>
            </a:extLst>
          </p:cNvPr>
          <p:cNvSpPr txBox="1"/>
          <p:nvPr/>
        </p:nvSpPr>
        <p:spPr>
          <a:xfrm>
            <a:off x="1032933" y="5096933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Face Tracking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3D45C-95A0-EDDE-3411-876E77B9C9C8}"/>
              </a:ext>
            </a:extLst>
          </p:cNvPr>
          <p:cNvSpPr txBox="1"/>
          <p:nvPr/>
        </p:nvSpPr>
        <p:spPr>
          <a:xfrm>
            <a:off x="5164666" y="374226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70ECE-76E6-2E48-2F5C-BABA13E22811}"/>
              </a:ext>
            </a:extLst>
          </p:cNvPr>
          <p:cNvSpPr txBox="1"/>
          <p:nvPr/>
        </p:nvSpPr>
        <p:spPr>
          <a:xfrm>
            <a:off x="5171695" y="3733001"/>
            <a:ext cx="16562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OCR Subtitle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991E0-94C7-66D2-C19E-E65AE9024B82}"/>
              </a:ext>
            </a:extLst>
          </p:cNvPr>
          <p:cNvSpPr txBox="1"/>
          <p:nvPr/>
        </p:nvSpPr>
        <p:spPr>
          <a:xfrm>
            <a:off x="8714277" y="3551527"/>
            <a:ext cx="21048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Audio-subtitle forced alignment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82A4CD-BFDD-2BA2-9474-FCA4383B2D01}"/>
              </a:ext>
            </a:extLst>
          </p:cNvPr>
          <p:cNvSpPr txBox="1"/>
          <p:nvPr/>
        </p:nvSpPr>
        <p:spPr>
          <a:xfrm>
            <a:off x="9024508" y="5093099"/>
            <a:ext cx="15182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Alignment</a:t>
            </a:r>
          </a:p>
          <a:p>
            <a:pPr algn="ctr"/>
            <a:r>
              <a:rPr lang="en-US"/>
              <a:t>Verification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57E1F9-D5EC-C6F4-716B-A718FD8C2199}"/>
              </a:ext>
            </a:extLst>
          </p:cNvPr>
          <p:cNvSpPr txBox="1"/>
          <p:nvPr/>
        </p:nvSpPr>
        <p:spPr>
          <a:xfrm>
            <a:off x="1178624" y="6464379"/>
            <a:ext cx="18288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Facial landmark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215F5D-284D-E21F-6F3A-9AFEE9C49DBF}"/>
              </a:ext>
            </a:extLst>
          </p:cNvPr>
          <p:cNvSpPr txBox="1"/>
          <p:nvPr/>
        </p:nvSpPr>
        <p:spPr>
          <a:xfrm>
            <a:off x="4664334" y="653403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AV sync &amp; speaker detection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48AB7-ABDA-F76F-CA70-0FB08849EF69}"/>
              </a:ext>
            </a:extLst>
          </p:cNvPr>
          <p:cNvSpPr txBox="1"/>
          <p:nvPr/>
        </p:nvSpPr>
        <p:spPr>
          <a:xfrm>
            <a:off x="8991918" y="6700488"/>
            <a:ext cx="15182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Training sentences</a:t>
            </a:r>
          </a:p>
        </p:txBody>
      </p:sp>
    </p:spTree>
    <p:extLst>
      <p:ext uri="{BB962C8B-B14F-4D97-AF65-F5344CB8AC3E}">
        <p14:creationId xmlns:p14="http://schemas.microsoft.com/office/powerpoint/2010/main" val="338314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6"/>
    </mc:Choice>
    <mc:Fallback xmlns="">
      <p:transition spd="slow" advTm="625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3457" y="523405"/>
            <a:ext cx="13076360" cy="1827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Collection and Preprocessing:</a:t>
            </a:r>
            <a:endParaRPr lang="en-US" sz="4450"/>
          </a:p>
        </p:txBody>
      </p:sp>
      <p:sp>
        <p:nvSpPr>
          <p:cNvPr id="4" name="Text 2"/>
          <p:cNvSpPr/>
          <p:nvPr/>
        </p:nvSpPr>
        <p:spPr>
          <a:xfrm>
            <a:off x="539790" y="6525092"/>
            <a:ext cx="8158175" cy="1284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ea typeface="+mn-lt"/>
                <a:cs typeface="+mn-lt"/>
              </a:rPr>
              <a:t>T</a:t>
            </a:r>
            <a:r>
              <a:rPr lang="en-US" sz="1750">
                <a:latin typeface="Open Sans"/>
                <a:ea typeface="+mn-lt"/>
                <a:cs typeface="+mn-lt"/>
              </a:rPr>
              <a:t>he data is being preprocessed by the help of the dependency named </a:t>
            </a:r>
            <a:r>
              <a:rPr lang="en-US" sz="1750" b="1" err="1">
                <a:latin typeface="Open Sans"/>
                <a:ea typeface="+mn-lt"/>
                <a:cs typeface="+mn-lt"/>
              </a:rPr>
              <a:t>openCV</a:t>
            </a:r>
            <a:r>
              <a:rPr lang="en-US" sz="1750">
                <a:latin typeface="Open Sans"/>
                <a:ea typeface="+mn-lt"/>
                <a:cs typeface="+mn-lt"/>
              </a:rPr>
              <a:t> and </a:t>
            </a:r>
            <a:r>
              <a:rPr lang="en-US" sz="1750" b="1" err="1">
                <a:latin typeface="Open Sans"/>
                <a:ea typeface="+mn-lt"/>
                <a:cs typeface="+mn-lt"/>
              </a:rPr>
              <a:t>num_to_char</a:t>
            </a:r>
            <a:r>
              <a:rPr lang="en-US" sz="1750" b="1">
                <a:latin typeface="Open Sans"/>
                <a:ea typeface="+mn-lt"/>
                <a:cs typeface="+mn-lt"/>
              </a:rPr>
              <a:t> and </a:t>
            </a:r>
            <a:r>
              <a:rPr lang="en-US" sz="1750" b="1" err="1">
                <a:latin typeface="Open Sans"/>
                <a:ea typeface="+mn-lt"/>
                <a:cs typeface="+mn-lt"/>
              </a:rPr>
              <a:t>char_to_num</a:t>
            </a:r>
            <a:r>
              <a:rPr lang="en-US" sz="1750" b="1">
                <a:latin typeface="Open Sans"/>
                <a:ea typeface="+mn-lt"/>
                <a:cs typeface="+mn-lt"/>
              </a:rPr>
              <a:t> functions</a:t>
            </a:r>
            <a:r>
              <a:rPr lang="en-US" sz="1750">
                <a:latin typeface="Open Sans"/>
                <a:ea typeface="+mn-lt"/>
                <a:cs typeface="+mn-lt"/>
              </a:rPr>
              <a:t>.</a:t>
            </a:r>
            <a:endParaRPr lang="en-US"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3457" y="2357730"/>
            <a:ext cx="11301014" cy="57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2000">
              <a:solidFill>
                <a:srgbClr val="403C4E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C9A2307-63F1-F730-60DD-1E5C0532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65" t="15592" r="1840" b="10084"/>
          <a:stretch/>
        </p:blipFill>
        <p:spPr>
          <a:xfrm>
            <a:off x="414312" y="1610687"/>
            <a:ext cx="4377803" cy="207137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327738A-F281-D018-968B-555C0BB874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06" t="10924" r="943" b="6723"/>
          <a:stretch/>
        </p:blipFill>
        <p:spPr>
          <a:xfrm>
            <a:off x="5343266" y="4028694"/>
            <a:ext cx="4653483" cy="2395351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30A04D79-03DD-626B-3A59-DEE33CACFD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29" t="22222" r="10868" b="2058"/>
          <a:stretch/>
        </p:blipFill>
        <p:spPr>
          <a:xfrm>
            <a:off x="6950015" y="1266966"/>
            <a:ext cx="4453475" cy="24045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23914-2BD1-7BA2-95AA-5861C03AE3F3}"/>
              </a:ext>
            </a:extLst>
          </p:cNvPr>
          <p:cNvSpPr txBox="1"/>
          <p:nvPr/>
        </p:nvSpPr>
        <p:spPr>
          <a:xfrm>
            <a:off x="263017" y="4316376"/>
            <a:ext cx="469277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Open Sans"/>
                <a:ea typeface="Open Sans"/>
                <a:cs typeface="Open Sans"/>
              </a:rPr>
              <a:t>Data is collected from </a:t>
            </a:r>
            <a:r>
              <a:rPr lang="en-US" b="1">
                <a:latin typeface="Open Sans"/>
                <a:ea typeface="Open Sans"/>
                <a:cs typeface="Open Sans"/>
              </a:rPr>
              <a:t>KAGGLE</a:t>
            </a:r>
            <a:r>
              <a:rPr lang="en-US">
                <a:latin typeface="Open Sans"/>
                <a:ea typeface="Open Sans"/>
                <a:cs typeface="Open Sans"/>
              </a:rPr>
              <a:t> through a </a:t>
            </a:r>
            <a:r>
              <a:rPr lang="en-US" err="1">
                <a:latin typeface="Open Sans"/>
                <a:ea typeface="Open Sans"/>
                <a:cs typeface="Open Sans"/>
              </a:rPr>
              <a:t>Gdrive</a:t>
            </a:r>
            <a:r>
              <a:rPr lang="en-US">
                <a:latin typeface="Open Sans"/>
                <a:ea typeface="Open Sans"/>
                <a:cs typeface="Open Sans"/>
              </a:rPr>
              <a:t> link--</a:t>
            </a:r>
            <a:r>
              <a:rPr lang="en-US">
                <a:latin typeface="Open Sans"/>
                <a:ea typeface="+mn-lt"/>
                <a:cs typeface="+mn-lt"/>
              </a:rPr>
              <a:t>https://drive.google.com/uc?id=1YlvpDLix3S-U8fd-gqRwPcWXAXm8JwjL</a:t>
            </a:r>
            <a:endParaRPr lang="en-US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3"/>
    </mc:Choice>
    <mc:Fallback xmlns="">
      <p:transition spd="slow" advTm="13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4502" y="949383"/>
            <a:ext cx="9086850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Model Architecture and Training</a:t>
            </a:r>
            <a:endParaRPr lang="en-US" sz="4350"/>
          </a:p>
        </p:txBody>
      </p:sp>
      <p:sp>
        <p:nvSpPr>
          <p:cNvPr id="4" name="Shape 1"/>
          <p:cNvSpPr/>
          <p:nvPr/>
        </p:nvSpPr>
        <p:spPr>
          <a:xfrm>
            <a:off x="175504" y="4216538"/>
            <a:ext cx="13081397" cy="30480"/>
          </a:xfrm>
          <a:prstGeom prst="roundRect">
            <a:avLst>
              <a:gd name="adj" fmla="val 304935"/>
            </a:avLst>
          </a:prstGeom>
          <a:solidFill>
            <a:srgbClr val="E5BE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166349" y="3499367"/>
            <a:ext cx="30480" cy="774502"/>
          </a:xfrm>
          <a:prstGeom prst="roundRect">
            <a:avLst>
              <a:gd name="adj" fmla="val 304935"/>
            </a:avLst>
          </a:prstGeom>
          <a:solidFill>
            <a:srgbClr val="E5BE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932749" y="3250526"/>
            <a:ext cx="497800" cy="497800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105627" y="3333393"/>
            <a:ext cx="152043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00"/>
          </a:p>
        </p:txBody>
      </p:sp>
      <p:sp>
        <p:nvSpPr>
          <p:cNvPr id="8" name="Text 5"/>
          <p:cNvSpPr/>
          <p:nvPr/>
        </p:nvSpPr>
        <p:spPr>
          <a:xfrm>
            <a:off x="621215" y="4495146"/>
            <a:ext cx="327290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CNN Feature Extraction</a:t>
            </a:r>
            <a:endParaRPr lang="en-US" sz="2150"/>
          </a:p>
        </p:txBody>
      </p:sp>
      <p:sp>
        <p:nvSpPr>
          <p:cNvPr id="9" name="Text 6"/>
          <p:cNvSpPr/>
          <p:nvPr/>
        </p:nvSpPr>
        <p:spPr>
          <a:xfrm>
            <a:off x="372434" y="4978643"/>
            <a:ext cx="3770471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Extracting features from individual frames using convolutional layers.</a:t>
            </a:r>
            <a:endParaRPr lang="en-US" sz="1700"/>
          </a:p>
        </p:txBody>
      </p:sp>
      <p:sp>
        <p:nvSpPr>
          <p:cNvPr id="10" name="Shape 7"/>
          <p:cNvSpPr/>
          <p:nvPr/>
        </p:nvSpPr>
        <p:spPr>
          <a:xfrm>
            <a:off x="6600475" y="3499367"/>
            <a:ext cx="30480" cy="774502"/>
          </a:xfrm>
          <a:prstGeom prst="roundRect">
            <a:avLst>
              <a:gd name="adj" fmla="val 304935"/>
            </a:avLst>
          </a:prstGeom>
          <a:solidFill>
            <a:srgbClr val="E5BE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366874" y="3250526"/>
            <a:ext cx="497800" cy="497800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515345" y="3333393"/>
            <a:ext cx="20085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00"/>
          </a:p>
        </p:txBody>
      </p:sp>
      <p:sp>
        <p:nvSpPr>
          <p:cNvPr id="13" name="Text 10"/>
          <p:cNvSpPr/>
          <p:nvPr/>
        </p:nvSpPr>
        <p:spPr>
          <a:xfrm>
            <a:off x="4912050" y="4495146"/>
            <a:ext cx="340756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RNN Sequence Modeling</a:t>
            </a:r>
            <a:endParaRPr lang="en-US" sz="2150"/>
          </a:p>
        </p:txBody>
      </p:sp>
      <p:sp>
        <p:nvSpPr>
          <p:cNvPr id="14" name="Text 11"/>
          <p:cNvSpPr/>
          <p:nvPr/>
        </p:nvSpPr>
        <p:spPr>
          <a:xfrm>
            <a:off x="4730598" y="4973539"/>
            <a:ext cx="3770590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Processing the sequence of extracted features using recurrent layers to understand context.</a:t>
            </a:r>
            <a:endParaRPr lang="en-US" sz="1700"/>
          </a:p>
        </p:txBody>
      </p:sp>
      <p:sp>
        <p:nvSpPr>
          <p:cNvPr id="15" name="Shape 12"/>
          <p:cNvSpPr/>
          <p:nvPr/>
        </p:nvSpPr>
        <p:spPr>
          <a:xfrm>
            <a:off x="11034720" y="3499367"/>
            <a:ext cx="30480" cy="774502"/>
          </a:xfrm>
          <a:prstGeom prst="roundRect">
            <a:avLst>
              <a:gd name="adj" fmla="val 304935"/>
            </a:avLst>
          </a:prstGeom>
          <a:solidFill>
            <a:srgbClr val="E5BE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0801119" y="3250526"/>
            <a:ext cx="497800" cy="497800"/>
          </a:xfrm>
          <a:prstGeom prst="roundRect">
            <a:avLst>
              <a:gd name="adj" fmla="val 1867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0956019" y="3333393"/>
            <a:ext cx="187881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600"/>
          </a:p>
        </p:txBody>
      </p:sp>
      <p:sp>
        <p:nvSpPr>
          <p:cNvPr id="18" name="Text 15"/>
          <p:cNvSpPr/>
          <p:nvPr/>
        </p:nvSpPr>
        <p:spPr>
          <a:xfrm>
            <a:off x="9667049" y="4495146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Model Training</a:t>
            </a:r>
            <a:endParaRPr lang="en-US" sz="2150"/>
          </a:p>
        </p:txBody>
      </p:sp>
      <p:sp>
        <p:nvSpPr>
          <p:cNvPr id="19" name="Text 16"/>
          <p:cNvSpPr/>
          <p:nvPr/>
        </p:nvSpPr>
        <p:spPr>
          <a:xfrm>
            <a:off x="9258605" y="4879420"/>
            <a:ext cx="3770590" cy="141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the model on the preprocessed data using backpropagation and gradient descent optimization.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2"/>
    </mc:Choice>
    <mc:Fallback xmlns="">
      <p:transition spd="slow" advTm="93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121925"/>
            <a:ext cx="75447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Conclusion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793790" y="2412815"/>
            <a:ext cx="10064710" cy="4387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800">
                <a:latin typeface="Open Sans"/>
                <a:ea typeface="Open Sans"/>
                <a:cs typeface="Open Sans"/>
              </a:rPr>
              <a:t>The lip-reading system achieved over 80% accuracy in real-world conditions.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800" dirty="0"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800" dirty="0">
                <a:latin typeface="Open Sans"/>
                <a:ea typeface="Open Sans"/>
                <a:cs typeface="Open Sans"/>
              </a:rPr>
              <a:t>It effectively handled noisy environments, promoting inclusivity for individuals with hearing impairments.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800" dirty="0"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800" dirty="0">
                <a:latin typeface="Open Sans"/>
                <a:ea typeface="Open Sans"/>
                <a:cs typeface="Open Sans"/>
              </a:rPr>
              <a:t>The system outperformed traditional speech recognition methods and received positive user feedback.</a:t>
            </a:r>
          </a:p>
          <a:p>
            <a:pPr marL="342900" indent="-342900">
              <a:lnSpc>
                <a:spcPts val="2850"/>
              </a:lnSpc>
              <a:buAutoNum type="arabicPeriod"/>
            </a:pPr>
            <a:endParaRPr lang="en-US" sz="2800" dirty="0"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en-US" sz="2800" dirty="0">
                <a:latin typeface="Open Sans"/>
                <a:ea typeface="Open Sans"/>
                <a:cs typeface="Open Sans"/>
              </a:rPr>
              <a:t> Future developments will focus on real-time processing, model refinement, and broadening language support.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1"/>
    </mc:Choice>
    <mc:Fallback xmlns="">
      <p:transition spd="slow" advTm="109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5235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LIMITATIONS:</a:t>
            </a:r>
            <a:endParaRPr lang="en-US" sz="44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FBEA1-ACA1-2521-D3EB-2191AC363F96}"/>
              </a:ext>
            </a:extLst>
          </p:cNvPr>
          <p:cNvSpPr txBox="1"/>
          <p:nvPr/>
        </p:nvSpPr>
        <p:spPr>
          <a:xfrm>
            <a:off x="793790" y="1815524"/>
            <a:ext cx="10191750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2400">
                <a:latin typeface="Open Sans"/>
                <a:ea typeface="Open Sans"/>
                <a:cs typeface="Open Sans"/>
              </a:rPr>
              <a:t>Dataset Limitations: The model’s accuracy depends on diverse datasets, which may be limited in languages, accents, and dialects.</a:t>
            </a:r>
          </a:p>
          <a:p>
            <a:pPr marL="342900" indent="-342900">
              <a:buAutoNum type="arabicPeriod"/>
            </a:pPr>
            <a:endParaRPr lang="en-US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Open Sans"/>
                <a:ea typeface="Open Sans"/>
                <a:cs typeface="Open Sans"/>
              </a:rPr>
              <a:t>Visual Quality Dependency: Poor video quality, lighting, or obstructed lip movements can reduce the model’s performance.</a:t>
            </a:r>
          </a:p>
          <a:p>
            <a:pPr marL="342900" indent="-342900">
              <a:buAutoNum type="arabicPeriod"/>
            </a:pPr>
            <a:endParaRPr lang="en-US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Open Sans"/>
                <a:ea typeface="Open Sans"/>
                <a:cs typeface="Open Sans"/>
              </a:rPr>
              <a:t>Real-Time Processing Challenges: Real-time interpretation remains difficult due to the computational demands of video processing.</a:t>
            </a:r>
          </a:p>
          <a:p>
            <a:pPr marL="342900" indent="-342900">
              <a:buAutoNum type="arabicPeriod"/>
            </a:pPr>
            <a:endParaRPr lang="en-US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Open Sans"/>
                <a:ea typeface="Open Sans"/>
                <a:cs typeface="Open Sans"/>
              </a:rPr>
              <a:t>Variability in Lip Movements: Subtle differences in individual lip movements may affect model accuracy and generalization.</a:t>
            </a:r>
          </a:p>
          <a:p>
            <a:pPr marL="342900" indent="-342900">
              <a:buAutoNum type="arabicPeriod"/>
            </a:pPr>
            <a:endParaRPr lang="en-US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Open Sans"/>
                <a:ea typeface="Open Sans"/>
                <a:cs typeface="Open Sans"/>
              </a:rPr>
              <a:t>Environmental Interference: Noisy or crowded environments can disrupt accurate lip reading, especially in real-time situations.</a:t>
            </a:r>
            <a:endParaRPr lang="en-IN" sz="2400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2"/>
    </mc:Choice>
    <mc:Fallback xmlns="">
      <p:transition spd="slow" advTm="291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8579" y="1154091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Future Work</a:t>
            </a:r>
            <a:endParaRPr lang="en-US" sz="43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C33B3C-8C86-D2E9-D2F2-07686630A1D9}"/>
              </a:ext>
            </a:extLst>
          </p:cNvPr>
          <p:cNvSpPr txBox="1"/>
          <p:nvPr/>
        </p:nvSpPr>
        <p:spPr>
          <a:xfrm>
            <a:off x="514350" y="2072976"/>
            <a:ext cx="11444568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IN" sz="2400">
                <a:latin typeface="Open Sans"/>
                <a:ea typeface="Open Sans"/>
                <a:cs typeface="Open Sans"/>
              </a:rPr>
              <a:t>Real-Time Processing: Implement real-time processing for instant lip movement interpretation.</a:t>
            </a:r>
          </a:p>
          <a:p>
            <a:pPr marL="342900" indent="-342900">
              <a:buAutoNum type="arabicPeriod"/>
            </a:pPr>
            <a:endParaRPr lang="en-IN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/>
                <a:ea typeface="Open Sans"/>
                <a:cs typeface="Open Sans"/>
              </a:rPr>
              <a:t>Model Enhancement: Enhance model accuracy using diverse datasets and expand language support for greater inclusivity.</a:t>
            </a:r>
          </a:p>
          <a:p>
            <a:pPr marL="342900" indent="-342900">
              <a:buAutoNum type="arabicPeriod"/>
            </a:pPr>
            <a:endParaRPr lang="en-IN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/>
                <a:ea typeface="Open Sans"/>
                <a:cs typeface="Open Sans"/>
              </a:rPr>
              <a:t> User Interface Improvement: Enhance the user interface through feedback and usability studies.</a:t>
            </a:r>
          </a:p>
          <a:p>
            <a:pPr marL="342900" indent="-342900">
              <a:buAutoNum type="arabicPeriod"/>
            </a:pPr>
            <a:endParaRPr lang="en-IN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/>
                <a:ea typeface="Open Sans"/>
                <a:cs typeface="Open Sans"/>
              </a:rPr>
              <a:t> Assistive Technology Integration: Integrate the system with assistive devices.</a:t>
            </a:r>
          </a:p>
          <a:p>
            <a:pPr marL="342900" indent="-342900">
              <a:buAutoNum type="arabicPeriod"/>
            </a:pPr>
            <a:endParaRPr lang="en-IN" sz="2400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/>
                <a:ea typeface="Open Sans"/>
                <a:cs typeface="Open Sans"/>
              </a:rPr>
              <a:t> Mobile App Development: Develop a mobile app to improve accessibility, flexibility, and versatility.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2"/>
    </mc:Choice>
    <mc:Fallback xmlns="">
      <p:transition spd="slow" advTm="150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7F816-F78D-EA30-3AFE-6F381B4D35CB}"/>
              </a:ext>
            </a:extLst>
          </p:cNvPr>
          <p:cNvSpPr txBox="1"/>
          <p:nvPr/>
        </p:nvSpPr>
        <p:spPr>
          <a:xfrm>
            <a:off x="3517979" y="3337144"/>
            <a:ext cx="688387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/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363388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695</Words>
  <Application>Microsoft Office PowerPoint</Application>
  <PresentationFormat>Custom</PresentationFormat>
  <Paragraphs>116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Merriweather Bold</vt:lpstr>
      <vt:lpstr>Arial</vt:lpstr>
      <vt:lpstr>Wingdings 3</vt:lpstr>
      <vt:lpstr>Trebuchet MS</vt:lpstr>
      <vt:lpstr>ADLaM Display</vt:lpstr>
      <vt:lpstr>Open Sans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 Sahu</cp:lastModifiedBy>
  <cp:revision>2</cp:revision>
  <dcterms:created xsi:type="dcterms:W3CDTF">2025-01-05T12:10:17Z</dcterms:created>
  <dcterms:modified xsi:type="dcterms:W3CDTF">2025-02-10T05:57:28Z</dcterms:modified>
</cp:coreProperties>
</file>